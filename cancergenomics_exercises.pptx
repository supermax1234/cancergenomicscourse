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7" r:id="rId2"/>
    <p:sldId id="438" r:id="rId3"/>
    <p:sldId id="442" r:id="rId4"/>
    <p:sldId id="439" r:id="rId5"/>
    <p:sldId id="440" r:id="rId6"/>
    <p:sldId id="44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245CC-920C-4C8D-9023-4C8AB492A9A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2EE80-F647-4CEC-A393-D5404499C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7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Intro</a:t>
            </a:r>
          </a:p>
          <a:p>
            <a:r>
              <a:rPr lang="de-CH" dirty="0" err="1"/>
              <a:t>Pdf</a:t>
            </a:r>
            <a:r>
              <a:rPr lang="de-CH" dirty="0"/>
              <a:t> </a:t>
            </a:r>
            <a:r>
              <a:rPr lang="de-CH" dirty="0" err="1"/>
              <a:t>git</a:t>
            </a:r>
            <a:endParaRPr lang="de-CH" dirty="0"/>
          </a:p>
          <a:p>
            <a:r>
              <a:rPr lang="de-CH" dirty="0" err="1"/>
              <a:t>Exercises</a:t>
            </a:r>
            <a:r>
              <a:rPr lang="de-CH" dirty="0"/>
              <a:t> </a:t>
            </a:r>
            <a:r>
              <a:rPr lang="de-CH" dirty="0" err="1"/>
              <a:t>git</a:t>
            </a:r>
            <a:endParaRPr lang="de-CH" dirty="0"/>
          </a:p>
          <a:p>
            <a:r>
              <a:rPr lang="de-CH" dirty="0"/>
              <a:t>(VEP)</a:t>
            </a:r>
          </a:p>
          <a:p>
            <a:r>
              <a:rPr lang="de-CH" i="0" dirty="0"/>
              <a:t>SIF</a:t>
            </a:r>
          </a:p>
          <a:p>
            <a:endParaRPr lang="de-CH" dirty="0"/>
          </a:p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8AB3-DA23-4E4B-82BB-7C4C781BCF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8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36CF-38AE-9F3C-55C8-ACD66E43A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909D1-10B0-993E-F0BB-2C1FFD516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86E1-6847-663F-DE22-196850BD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A6AED-A71F-CB8D-3736-A9310B25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63099-E50A-B1A7-EF62-7D0AD73C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8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2599-915F-7CCB-5665-C2543CFB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BC1E-AD01-1B08-5DE9-FAD97F898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3EF7-012D-4EC9-A00D-05D40DDA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3A00D-EE2D-CBC5-55E5-6B6BCC01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8435F-BC14-F7C2-E320-F4ACD7F1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4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81A3-530B-BF06-912D-B751BE9B8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12840-7401-3E6F-AD3B-FE29B5406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807CF-E758-510A-3DE6-3A944999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214B8-AC78-C290-A16D-72370EC9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CB0D8-ABC3-F0D3-8640-25A515721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6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638E5-F799-37A7-D43A-6F199C4D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42A9-3ABC-70D9-88C3-EEE151553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24CEC-784D-EA86-64A2-F43FDEA8F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C9288-71C2-7385-5010-05B0FC26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D640C-8448-8207-958B-C7BAEEC1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5F9A6-98F2-B86B-A482-179C412F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8601-6F04-BD9F-3275-5A2F786D4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9BE4E-CC2C-F7FB-D989-A5CE23145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EAB26-388B-05C5-5DAA-60C534DD1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D9615-59D8-DDFA-6214-A68EC83A1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39F27-EE7F-B2D7-DC4A-EEACAF6EE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E4247-9DBA-6881-F82E-6DF34717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6E1E4-EF6C-6232-0F24-46DA2D86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6EDCA6-735F-5F5A-56DE-C23F85E5F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8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418A-05E7-4FFE-996B-28E7D73E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9B581-75C2-23D3-9457-D9343C8E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B193C-09E3-15CF-2B7B-0FEE995D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E920D-5A56-3827-8F3E-A0F3281C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6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C309D-45CB-3B6E-B5DE-88C54A0C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4B9AA8-7DAA-7A56-3E5B-7509F344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66FC4-03AD-7F61-7D54-A7B16EC8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7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C3BD-915F-171D-FA0C-8E2D243F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24DE4-7739-7C2E-2596-54356C731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4A554-C0EF-9889-0302-96D6C77C2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B8ACE-1215-29F6-FDDC-B21BBED3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61B90-31D6-364B-FA77-28E2A58D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2E33F-CF77-6FCF-9A49-FC7110254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5BE4-9FA3-F6B3-93BF-C15FC3F5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7C6E3-1230-A12E-A62C-66271BCE7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F55FF-3C2D-D675-ADCF-48A72A55F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95028-E954-2BC2-5041-3A8A5CE6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501C0-8382-538F-E8F8-B46B0326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8D026-0C19-3E58-2ADD-85EB0339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3D92-736A-F27B-98D4-FA36395E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70D2A-E77C-D83C-6DF6-21FFE22E3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44D34-C3E3-DF52-E7C3-41A88045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C947C-8C1B-259F-D2F1-A6727817D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D7CD-5784-D15B-8A76-8C5E28066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6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13FF4-F2AB-106F-344A-424A00E52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00A16-5A02-2A2B-5DC9-CBF1D27DB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1DE34-E35F-5762-6486-A9C625B6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D5410-C77A-399F-4FFF-15804FD1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68868-B346-A6FF-A3F2-A54A62A6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7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92124-95AE-82D8-24CF-947506A9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87F5B-0C72-8BE6-D145-51E58958D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CE926-3432-C1CF-6A5F-39E5B1858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03562-83D5-438C-A8C8-3EC9767AD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B60FF-9D31-59B2-26D2-41A790B17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8AFCB-DDD8-938A-03A6-2517EDE52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ABE4E-8FD0-4236-9136-81C0B42A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0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" y="-1"/>
            <a:ext cx="12185838" cy="68614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6162" y="566678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CH" sz="6000" dirty="0" err="1">
                <a:solidFill>
                  <a:srgbClr val="0098D1"/>
                </a:solidFill>
                <a:latin typeface="Arial Rounded MT Bold" panose="020F0704030504030204" pitchFamily="34" charset="0"/>
              </a:rPr>
              <a:t>Somatic</a:t>
            </a:r>
            <a:r>
              <a:rPr lang="de-CH" sz="60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 variant </a:t>
            </a:r>
            <a:r>
              <a:rPr lang="de-CH" sz="6000" dirty="0" err="1">
                <a:solidFill>
                  <a:srgbClr val="0098D1"/>
                </a:solidFill>
                <a:latin typeface="Arial Rounded MT Bold" panose="020F0704030504030204" pitchFamily="34" charset="0"/>
              </a:rPr>
              <a:t>calling</a:t>
            </a:r>
            <a:r>
              <a:rPr lang="de-CH" sz="60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 </a:t>
            </a:r>
          </a:p>
          <a:p>
            <a:pPr algn="ctr"/>
            <a:r>
              <a:rPr lang="de-CH" sz="60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&amp; </a:t>
            </a:r>
          </a:p>
          <a:p>
            <a:pPr algn="ctr"/>
            <a:r>
              <a:rPr lang="de-CH" sz="60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Annotation</a:t>
            </a:r>
            <a:endParaRPr lang="en-US" sz="6000" dirty="0">
              <a:latin typeface="Arial Rounded MT Bold" panose="020F07040305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6084" y="3741367"/>
            <a:ext cx="1745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72 Condensed" panose="020B0506030000000003" pitchFamily="34" charset="0"/>
                <a:cs typeface="72 Condensed" panose="020B0506030000000003" pitchFamily="34" charset="0"/>
              </a:rPr>
              <a:t>Massimo </a:t>
            </a:r>
            <a:r>
              <a:rPr lang="en-US" sz="2000" dirty="0" err="1">
                <a:latin typeface="72 Condensed" panose="020B0506030000000003" pitchFamily="34" charset="0"/>
                <a:cs typeface="72 Condensed" panose="020B0506030000000003" pitchFamily="34" charset="0"/>
              </a:rPr>
              <a:t>Maiolo</a:t>
            </a:r>
            <a:endParaRPr lang="en-US" sz="2000" dirty="0">
              <a:latin typeface="72 Condensed" panose="020B0506030000000003" pitchFamily="34" charset="0"/>
              <a:cs typeface="72 Condensed" panose="020B05060300000000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72588" y="6255967"/>
            <a:ext cx="6452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Institute of Tissue Medicine and Pathology – University of Bern | 8.10.2026</a:t>
            </a:r>
          </a:p>
        </p:txBody>
      </p:sp>
    </p:spTree>
    <p:extLst>
      <p:ext uri="{BB962C8B-B14F-4D97-AF65-F5344CB8AC3E}">
        <p14:creationId xmlns:p14="http://schemas.microsoft.com/office/powerpoint/2010/main" val="181846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0" y="276936"/>
            <a:ext cx="12254753" cy="50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800" dirty="0" err="1">
                <a:solidFill>
                  <a:srgbClr val="0098D1"/>
                </a:solidFill>
                <a:latin typeface="Arial Rounded MT Bold" panose="020F0704030504030204" pitchFamily="34" charset="0"/>
              </a:rPr>
              <a:t>Github</a:t>
            </a:r>
            <a:r>
              <a:rPr lang="en-US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  </a:t>
            </a:r>
            <a:r>
              <a:rPr lang="de-CH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Cancer </a:t>
            </a:r>
            <a:r>
              <a:rPr lang="de-CH" sz="2800" dirty="0" err="1">
                <a:solidFill>
                  <a:srgbClr val="0098D1"/>
                </a:solidFill>
                <a:latin typeface="Arial Rounded MT Bold" panose="020F0704030504030204" pitchFamily="34" charset="0"/>
              </a:rPr>
              <a:t>Genomics</a:t>
            </a:r>
            <a:r>
              <a:rPr lang="de-CH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 Course</a:t>
            </a:r>
            <a:endParaRPr lang="en-US" sz="2800" dirty="0">
              <a:solidFill>
                <a:srgbClr val="0098D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F02A3-2E4C-5E86-EF5E-9FFF2CBB72EF}"/>
              </a:ext>
            </a:extLst>
          </p:cNvPr>
          <p:cNvSpPr txBox="1"/>
          <p:nvPr/>
        </p:nvSpPr>
        <p:spPr>
          <a:xfrm>
            <a:off x="0" y="561418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sz="2400" dirty="0"/>
              <a:t>https://github.com/supermax1234/CancerGenomicsCourse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1AA177-31DB-0EC2-434C-11DA33EC0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810" y="915977"/>
            <a:ext cx="4564380" cy="456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0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894CAF-F3E4-DA96-3AF2-1BB35F348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0752"/>
              </p:ext>
            </p:extLst>
          </p:nvPr>
        </p:nvGraphicFramePr>
        <p:xfrm>
          <a:off x="2288721" y="1531370"/>
          <a:ext cx="7522936" cy="4593660"/>
        </p:xfrm>
        <a:graphic>
          <a:graphicData uri="http://schemas.openxmlformats.org/drawingml/2006/table">
            <a:tbl>
              <a:tblPr/>
              <a:tblGrid>
                <a:gridCol w="1041361">
                  <a:extLst>
                    <a:ext uri="{9D8B030D-6E8A-4147-A177-3AD203B41FA5}">
                      <a16:colId xmlns:a16="http://schemas.microsoft.com/office/drawing/2014/main" val="382176644"/>
                    </a:ext>
                  </a:extLst>
                </a:gridCol>
                <a:gridCol w="1364542">
                  <a:extLst>
                    <a:ext uri="{9D8B030D-6E8A-4147-A177-3AD203B41FA5}">
                      <a16:colId xmlns:a16="http://schemas.microsoft.com/office/drawing/2014/main" val="46820554"/>
                    </a:ext>
                  </a:extLst>
                </a:gridCol>
                <a:gridCol w="5117033">
                  <a:extLst>
                    <a:ext uri="{9D8B030D-6E8A-4147-A177-3AD203B41FA5}">
                      <a16:colId xmlns:a16="http://schemas.microsoft.com/office/drawing/2014/main" val="2045300762"/>
                    </a:ext>
                  </a:extLst>
                </a:gridCol>
              </a:tblGrid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17.09.2026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Panos - Sofia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Introduction/Logistics + Introduction to cancer biology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941313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24.09.2026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Philip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Introduction to software for mutation calling, gene signatures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224812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01.10.2026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Sofia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Cancer Biology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03765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08.10.2026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Somatic variant calling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45979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15.10.2026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Somatic variant calling + variant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annoation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869229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22.10.2026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Philip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Variant prioritization - Driver mutations 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09040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29.10.2026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Philip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Mutational Signatures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739532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05.11.2026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Andrew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Mid-term exam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664973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12.11.2026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Panos - Andrew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Introduction to software for structural analysis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885890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19.11.2026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Panos - Andrew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CNV calling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84075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26.11.2026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Panos - Andrew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Structural variants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1262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03.12.2026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Panos - Andrew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Tumor clonality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591579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10.12.2026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Panos - Andrew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interpretation + summary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026269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17.12.2026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Summary - Q&amp;As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85495"/>
                  </a:ext>
                </a:extLst>
              </a:tr>
              <a:tr h="30624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13.01.2027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Panos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- Andrew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Final Exam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135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EF15F9-124B-C73F-5567-1B64ACF4572E}"/>
              </a:ext>
            </a:extLst>
          </p:cNvPr>
          <p:cNvSpPr txBox="1"/>
          <p:nvPr/>
        </p:nvSpPr>
        <p:spPr>
          <a:xfrm>
            <a:off x="0" y="40933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Lesson</a:t>
            </a:r>
            <a:r>
              <a:rPr lang="en-US" dirty="0"/>
              <a:t> </a:t>
            </a:r>
            <a:r>
              <a:rPr lang="en-US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29361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1E45D2-9847-77AE-3C62-BA806A2215F0}"/>
              </a:ext>
            </a:extLst>
          </p:cNvPr>
          <p:cNvSpPr txBox="1"/>
          <p:nvPr/>
        </p:nvSpPr>
        <p:spPr>
          <a:xfrm>
            <a:off x="0" y="386204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Course Assignment: Group Organization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D21D1-C9EE-F38A-E7F0-F3ACEFE8117B}"/>
              </a:ext>
            </a:extLst>
          </p:cNvPr>
          <p:cNvSpPr txBox="1"/>
          <p:nvPr/>
        </p:nvSpPr>
        <p:spPr>
          <a:xfrm>
            <a:off x="1364381" y="181257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Teamwork &amp;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16773-1DAC-435E-9A4F-8E499C1C4D48}"/>
              </a:ext>
            </a:extLst>
          </p:cNvPr>
          <p:cNvSpPr txBox="1"/>
          <p:nvPr/>
        </p:nvSpPr>
        <p:spPr>
          <a:xfrm>
            <a:off x="1809741" y="2716261"/>
            <a:ext cx="891540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Organize yourselves into </a:t>
            </a:r>
            <a:r>
              <a:rPr lang="en-US" b="1" dirty="0"/>
              <a:t>groups of 3 students</a:t>
            </a:r>
            <a:r>
              <a:rPr lang="en-US" dirty="0"/>
              <a:t> (10 groups total)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Work Together: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Team members share the exact same grade for this assignment, so collaborate closely,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review each other's scripts, and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run through the pipeline as a team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Please provide the names of the group members asap</a:t>
            </a:r>
          </a:p>
        </p:txBody>
      </p:sp>
    </p:spTree>
    <p:extLst>
      <p:ext uri="{BB962C8B-B14F-4D97-AF65-F5344CB8AC3E}">
        <p14:creationId xmlns:p14="http://schemas.microsoft.com/office/powerpoint/2010/main" val="71470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6B1F28-3028-3CBD-CD40-1BF83F549A4E}"/>
              </a:ext>
            </a:extLst>
          </p:cNvPr>
          <p:cNvSpPr txBox="1"/>
          <p:nvPr/>
        </p:nvSpPr>
        <p:spPr>
          <a:xfrm>
            <a:off x="0" y="483066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Course Assignment: Submission Guidelines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C580B-D1B7-818C-96A8-EE652B823155}"/>
              </a:ext>
            </a:extLst>
          </p:cNvPr>
          <p:cNvSpPr txBox="1"/>
          <p:nvPr/>
        </p:nvSpPr>
        <p:spPr>
          <a:xfrm>
            <a:off x="1152626" y="179332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Submission Details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E6E86-E908-5986-4C37-872883FCD409}"/>
              </a:ext>
            </a:extLst>
          </p:cNvPr>
          <p:cNvSpPr txBox="1"/>
          <p:nvPr/>
        </p:nvSpPr>
        <p:spPr>
          <a:xfrm>
            <a:off x="1229626" y="2403288"/>
            <a:ext cx="10339939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Format</a:t>
            </a:r>
            <a:r>
              <a:rPr lang="en-US" dirty="0"/>
              <a:t>: Submit (email: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massimo.maiolo@unibe.ch</a:t>
            </a:r>
            <a:r>
              <a:rPr lang="en-US" dirty="0"/>
              <a:t>) a single compressed </a:t>
            </a:r>
            <a:r>
              <a:rPr lang="en-US" i="1" dirty="0"/>
              <a:t>.zip </a:t>
            </a:r>
            <a:r>
              <a:rPr lang="en-US" dirty="0"/>
              <a:t>folder containing: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all your developed SLURM scripts, following the sequential numbering convention (e.g., </a:t>
            </a:r>
            <a:r>
              <a:rPr lang="en-US" i="1" dirty="0"/>
              <a:t>01_</a:t>
            </a:r>
            <a:r>
              <a:rPr lang="en-US" dirty="0"/>
              <a:t>, </a:t>
            </a:r>
            <a:r>
              <a:rPr lang="en-US" i="1" dirty="0"/>
              <a:t>02_</a:t>
            </a:r>
            <a:r>
              <a:rPr lang="en-US" dirty="0"/>
              <a:t>, etc.) covered in class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README.md </a:t>
            </a:r>
            <a:r>
              <a:rPr lang="en-US" dirty="0"/>
              <a:t>text file containing the full names and surnames of the 3 group members. Any notes, comments, or explanations in the README if a specific step failed, threw warnings, or required alternative handling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Deadline</a:t>
            </a:r>
            <a:r>
              <a:rPr lang="en-US" dirty="0"/>
              <a:t>: submit your group's work by </a:t>
            </a:r>
            <a:r>
              <a:rPr lang="en-US" b="1" dirty="0"/>
              <a:t>October 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965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499C14-F511-6129-B528-74E2F7BF80C7}"/>
              </a:ext>
            </a:extLst>
          </p:cNvPr>
          <p:cNvSpPr txBox="1"/>
          <p:nvPr/>
        </p:nvSpPr>
        <p:spPr>
          <a:xfrm>
            <a:off x="0" y="619044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98D1"/>
                </a:solidFill>
                <a:latin typeface="Arial Rounded MT Bold" panose="020F0704030504030204" pitchFamily="34" charset="0"/>
              </a:rPr>
              <a:t>Important Reminder: SLURM Script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A42B62-366F-8407-4A31-AB468E73470D}"/>
              </a:ext>
            </a:extLst>
          </p:cNvPr>
          <p:cNvSpPr txBox="1"/>
          <p:nvPr/>
        </p:nvSpPr>
        <p:spPr>
          <a:xfrm>
            <a:off x="680988" y="185107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SLURM scripts vs. Local bash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4ED5B-6EAA-3665-D519-D02D4D8ABC4B}"/>
              </a:ext>
            </a:extLst>
          </p:cNvPr>
          <p:cNvSpPr txBox="1"/>
          <p:nvPr/>
        </p:nvSpPr>
        <p:spPr>
          <a:xfrm>
            <a:off x="1094873" y="2697011"/>
            <a:ext cx="10339939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Every script you submit must be a fully functional, runnable </a:t>
            </a:r>
            <a:r>
              <a:rPr lang="en-US" b="1" dirty="0"/>
              <a:t>SLURM batch script</a:t>
            </a:r>
            <a:r>
              <a:rPr lang="en-US" dirty="0"/>
              <a:t>, not a local bash 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script must start with the required </a:t>
            </a:r>
            <a:r>
              <a:rPr lang="en-US" i="1" dirty="0"/>
              <a:t>#SBATCH</a:t>
            </a:r>
            <a:r>
              <a:rPr lang="en-US" dirty="0"/>
              <a:t> header (partition, memory, time, job name, and reservation) as shown in the course template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Never</a:t>
            </a:r>
            <a:r>
              <a:rPr lang="en-US" dirty="0"/>
              <a:t> run heavy compute tasks directly on the master/login node; always submit your scripts via </a:t>
            </a:r>
            <a:r>
              <a:rPr lang="en-US" dirty="0" err="1"/>
              <a:t>sbatch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6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Widescreen</PresentationFormat>
  <Paragraphs>78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72 Condensed</vt:lpstr>
      <vt:lpstr>Aptos</vt:lpstr>
      <vt:lpstr>Aptos Display</vt:lpstr>
      <vt:lpstr>Aptos Narrow</vt:lpstr>
      <vt:lpstr>Arial</vt:lpstr>
      <vt:lpstr>Arial Narrow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Insel Gruppe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Maiolo, Massimo</dc:creator>
  <cp:lastModifiedBy>Maiolo, Massimo Vincenzo (IGMP)</cp:lastModifiedBy>
  <cp:revision>29</cp:revision>
  <dcterms:created xsi:type="dcterms:W3CDTF">2026-10-07T05:52:00Z</dcterms:created>
  <dcterms:modified xsi:type="dcterms:W3CDTF">2026-10-15T10:07:10Z</dcterms:modified>
</cp:coreProperties>
</file>